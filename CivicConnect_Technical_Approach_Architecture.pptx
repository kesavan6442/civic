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C59"/>
                </a:solidFill>
                <a:latin typeface="Arial Black"/>
              </a:defRPr>
            </a:pPr>
            <a:r>
              <a:t>CIVIC CONNECT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Govt. of Jharkhand Civic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3716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3716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17055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780">
                <a:solidFill>
                  <a:srgbClr val="1E293B"/>
                </a:solidFill>
              </a:defRPr>
            </a:pPr>
            <a:r>
              <a:t>• Java 17 &amp; Python 3.10+</a:t>
            </a:r>
            <a:br/>
            <a:r>
              <a:t>• React 18 &amp; Vite Client</a:t>
            </a:r>
            <a:br/>
            <a:r>
              <a:t>• Spring Boot 3.4 (Port 5000)</a:t>
            </a:r>
            <a:br/>
            <a:r>
              <a:t>• FastAPI AI (Port 8000)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777240"/>
            <a:ext cx="2249424" cy="23774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System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5740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780">
                <a:solidFill>
                  <a:srgbClr val="1E293B"/>
                </a:solidFill>
              </a:defRPr>
            </a:pPr>
            <a:r>
              <a:t>• Spring Boot 3.4 &amp; Security</a:t>
            </a:r>
            <a:br/>
            <a:r>
              <a:t>• FastAPI &amp; PyTorch</a:t>
            </a:r>
            <a:br/>
            <a:r>
              <a:t>• Sentence-Transformers</a:t>
            </a:r>
            <a:br/>
            <a:r>
              <a:t>• Pillow (ELA Forensics)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965960"/>
            <a:ext cx="2249424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Frameworks &amp; Libraries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46120"/>
            <a:ext cx="24688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780">
                <a:solidFill>
                  <a:srgbClr val="1E293B"/>
                </a:solidFill>
              </a:defRPr>
            </a:pPr>
            <a:r>
              <a:t>• MongoDB 7.0 Database</a:t>
            </a:r>
            <a:br/>
            <a:r>
              <a:t>• Local File Evidence Store</a:t>
            </a:r>
            <a:br/>
            <a:r>
              <a:t>• Vector Similarity Cache</a:t>
            </a:r>
            <a:br/>
            <a:r>
              <a:t>• Browser LocalStorage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3154680"/>
            <a:ext cx="2249424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Storage Technologies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343400"/>
            <a:ext cx="24688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780">
                <a:solidFill>
                  <a:srgbClr val="1E293B"/>
                </a:solidFill>
              </a:defRPr>
            </a:pPr>
            <a:r>
              <a:t>• MCP Server (72 Tools)</a:t>
            </a:r>
            <a:br/>
            <a:r>
              <a:t>• RESTful JSON HTTP APIs</a:t>
            </a:r>
            <a:br/>
            <a:r>
              <a:t>• JWT Token Authentication</a:t>
            </a:r>
            <a:br/>
            <a:r>
              <a:t>• Role-Based Access (RBAC)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4251960"/>
            <a:ext cx="2249424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Integration &amp; Protocols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440680"/>
            <a:ext cx="3931920" cy="1078992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730" b="1">
                <a:solidFill>
                  <a:srgbClr val="713F12"/>
                </a:solidFill>
              </a:defRPr>
            </a:pPr>
            <a:r>
              <a:t>• Scope: Ingest civic complaints, match R&amp;D with CSR funds, track SLAs</a:t>
            </a:r>
          </a:p>
          <a:p>
            <a:pPr>
              <a:defRPr sz="730">
                <a:solidFill>
                  <a:srgbClr val="713F12"/>
                </a:solidFill>
              </a:defRPr>
            </a:pPr>
            <a:r>
              <a:t>• Design: 3-tier microservice architecture (React + Spring Boot + FastAPI + MCP)</a:t>
            </a:r>
          </a:p>
          <a:p>
            <a:pPr>
              <a:defRPr sz="730">
                <a:solidFill>
                  <a:srgbClr val="713F12"/>
                </a:solidFill>
              </a:defRPr>
            </a:pPr>
            <a:r>
              <a:t>• Development: Sentence-Transformers NLP, ELA photo authenticity &amp; MCDA matching</a:t>
            </a:r>
          </a:p>
          <a:p>
            <a:pPr>
              <a:defRPr sz="730">
                <a:solidFill>
                  <a:srgbClr val="713F12"/>
                </a:solidFill>
              </a:defRPr>
            </a:pPr>
            <a:r>
              <a:t>• Deployment: Containerized microservices with MongoDB &amp; JWT security</a:t>
            </a:r>
          </a:p>
          <a:p>
            <a:pPr>
              <a:defRPr sz="730">
                <a:solidFill>
                  <a:srgbClr val="713F12"/>
                </a:solidFill>
              </a:defRPr>
            </a:pPr>
            <a:r>
              <a:t>• Maintenance: Real-time SLA tracking, multi-district analytics &amp; audit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868680"/>
            <a:ext cx="114300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868680"/>
            <a:ext cx="1143000" cy="443484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0680" y="868680"/>
            <a:ext cx="1188720" cy="443484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20840" y="868680"/>
            <a:ext cx="10972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09560" y="868680"/>
            <a:ext cx="1737360" cy="44348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38360" y="868680"/>
            <a:ext cx="2057400" cy="14630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2400E"/>
                </a:solidFill>
              </a:defRPr>
            </a:pPr>
            <a:r>
              <a:t>Product Status</a:t>
            </a:r>
          </a:p>
          <a:p>
            <a:pPr algn="ctr">
              <a:defRPr sz="819" b="1">
                <a:solidFill>
                  <a:srgbClr val="1E40AF"/>
                </a:solidFill>
              </a:defRPr>
            </a:pPr>
            <a:r>
              <a:t>100% Core System Built &amp; Verified!</a:t>
            </a:r>
            <a:br/>
            <a:r>
              <a:t>(54/54 Tests Passed, Production Ready)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423160"/>
            <a:ext cx="2057400" cy="178308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40">
                <a:solidFill>
                  <a:srgbClr val="44403C"/>
                </a:solidFill>
              </a:defRPr>
            </a:pPr>
            <a:r>
              <a:t>🔒 Security &amp; Governance</a:t>
            </a:r>
            <a:br/>
            <a:r>
              <a:t>• JWT + BCrypt Auth</a:t>
            </a:r>
            <a:br/>
            <a:r>
              <a:t>• Role-Based Access (RBAC)</a:t>
            </a:r>
            <a:br/>
            <a:r>
              <a:t>• AES-256 Data Encryption</a:t>
            </a:r>
            <a:br/>
            <a:r>
              <a:t>• SHA-256 Tamper-Proof Audit</a:t>
            </a:r>
            <a:br/>
            <a:r>
              <a:t>• Human-In-The-Loop AI Gates</a:t>
            </a:r>
          </a:p>
        </p:txBody>
      </p:sp>
      <p:sp>
        <p:nvSpPr>
          <p:cNvPr id="21" name="Oval 20"/>
          <p:cNvSpPr/>
          <p:nvPr/>
        </p:nvSpPr>
        <p:spPr>
          <a:xfrm>
            <a:off x="9829800" y="4343400"/>
            <a:ext cx="438912" cy="43891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29768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0E7490"/>
                </a:solidFill>
              </a:defRPr>
            </a:pPr>
            <a:r>
              <a:t>TECHNOLOGY</a:t>
            </a:r>
            <a:br/>
            <a:r>
              <a:t>READINESS LEVEL</a:t>
            </a:r>
          </a:p>
        </p:txBody>
      </p:sp>
      <p:sp>
        <p:nvSpPr>
          <p:cNvPr id="23" name="Oval 22"/>
          <p:cNvSpPr/>
          <p:nvPr/>
        </p:nvSpPr>
        <p:spPr>
          <a:xfrm>
            <a:off x="9829800" y="4983480"/>
            <a:ext cx="438912" cy="438912"/>
          </a:xfrm>
          <a:prstGeom prst="ellipse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93776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A16207"/>
                </a:solidFill>
              </a:defRPr>
            </a:pPr>
            <a:r>
              <a:t>DEPLOYMENT</a:t>
            </a:r>
            <a:br/>
            <a:r>
              <a:t>READINESS LEVEL</a:t>
            </a:r>
          </a:p>
        </p:txBody>
      </p:sp>
      <p:sp>
        <p:nvSpPr>
          <p:cNvPr id="25" name="Oval 24"/>
          <p:cNvSpPr/>
          <p:nvPr/>
        </p:nvSpPr>
        <p:spPr>
          <a:xfrm>
            <a:off x="9829800" y="5623560"/>
            <a:ext cx="438912" cy="43891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55778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E3A8A"/>
                </a:solidFill>
              </a:defRPr>
            </a:pPr>
            <a:r>
              <a:t>INVESTMENT</a:t>
            </a:r>
            <a:br/>
            <a:r>
              <a:t>READINESS LEVEL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53796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@SIH Idea submission - CIVIC CONNECT |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320040"/>
            <a:ext cx="6705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Arial Black"/>
              </a:defRPr>
            </a:pPr>
            <a:r>
              <a:t>READINESS LEVELS &amp; MATURITY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822960"/>
            <a:ext cx="6705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Standard Assessment Framework: Technology (TRL) • Deployment (DRL) • Investment (IRL)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37160" rIns="137160"/>
          <a:lstStyle/>
          <a:p>
            <a:pPr algn="ctr">
              <a:defRPr sz="880">
                <a:solidFill>
                  <a:srgbClr val="1E293B"/>
                </a:solidFill>
              </a:defRPr>
            </a:pPr>
            <a:r>
              <a:t>• Current Status: Prototype demonstrated in operational environment.</a:t>
            </a:r>
            <a:br/>
            <a:r>
              <a:t>• Verified Features: React 18 frontend + Spring Boot 3.4 API + Python FastAPI AI microservices fully integrated.</a:t>
            </a:r>
            <a:br/>
            <a:r>
              <a:t>• Evidence: Real-time multilingual NLP (Sentence-Transformers) and ELA image authenticity active.</a:t>
            </a:r>
            <a:br/>
            <a:r>
              <a:t>• Next Milestone (TRL 8): Live municipal field pilot across 3 Jharkhand districts.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91840" cy="5486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TRL: 7 / 9</a:t>
            </a:r>
          </a:p>
          <a:p>
            <a:pPr algn="ctr">
              <a:defRPr sz="750" b="1">
                <a:solidFill>
                  <a:srgbClr val="F1F5F9"/>
                </a:solidFill>
              </a:defRPr>
            </a:pPr>
            <a:r>
              <a:t>TECHNOLOGY READINESS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801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37160" rIns="137160"/>
          <a:lstStyle/>
          <a:p>
            <a:pPr algn="ctr">
              <a:defRPr sz="880">
                <a:solidFill>
                  <a:srgbClr val="1E293B"/>
                </a:solidFill>
              </a:defRPr>
            </a:pPr>
            <a:r>
              <a:t>• Current Status: Production &amp; Cloud Deployment Ready.</a:t>
            </a:r>
            <a:br/>
            <a:r>
              <a:t>• Verified Features: 54/54 Automated Test Suite passed across security, data integrity, and end-to-end lifecycle.</a:t>
            </a:r>
            <a:br/>
            <a:r>
              <a:t>• Evidence: Dockerized microservices, MongoDB database clustering, and Role-Based Access Control (RBAC).</a:t>
            </a:r>
            <a:br/>
            <a:r>
              <a:t>• Next Milestone (DRL 7): Production rollout on state government cloud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291840" cy="548640"/>
          </a:xfrm>
          <a:prstGeom prst="round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DRL: 6 / 10</a:t>
            </a:r>
          </a:p>
          <a:p>
            <a:pPr algn="ctr">
              <a:defRPr sz="750" b="1">
                <a:solidFill>
                  <a:srgbClr val="F1F5F9"/>
                </a:solidFill>
              </a:defRPr>
            </a:pPr>
            <a:r>
              <a:t>DEPLOYMENT READINESS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37160" rIns="137160"/>
          <a:lstStyle/>
          <a:p>
            <a:pPr algn="ctr">
              <a:defRPr sz="880">
                <a:solidFill>
                  <a:srgbClr val="1E293B"/>
                </a:solidFill>
              </a:defRPr>
            </a:pPr>
            <a:r>
              <a:t>• Current Status: Validated Product-Market Fit &amp; Financial Model.</a:t>
            </a:r>
            <a:br/>
            <a:r>
              <a:t>• Verified Features: Multi-Stakeholder co-funding architecture (CSR Grants + University R&amp;D + State Grants).</a:t>
            </a:r>
            <a:br/>
            <a:r>
              <a:t>• Evidence: Automated cost estimation, milestone escrow tracking, and CSR tax compliance support.</a:t>
            </a:r>
            <a:br/>
            <a:r>
              <a:t>• Next Milestone (IRL 6): Signing initial MoUs with corporate CSR partners (e.g. Tata Steel, NTPC).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9184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IRL: 5 / 9</a:t>
            </a:r>
          </a:p>
          <a:p>
            <a:pPr algn="ctr">
              <a:defRPr sz="750" b="1">
                <a:solidFill>
                  <a:srgbClr val="F1F5F9"/>
                </a:solidFill>
              </a:defRPr>
            </a:pPr>
            <a:r>
              <a:t>INVESTMENT READINESS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11064240" cy="868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🎯 6-Month Scalability Roadmap:</a:t>
            </a:r>
          </a:p>
          <a:p>
            <a:pPr>
              <a:defRPr sz="800">
                <a:solidFill>
                  <a:srgbClr val="713F12"/>
                </a:solidFill>
              </a:defRPr>
            </a:pPr>
            <a:r>
              <a:t>• Phase 1 (Current / Hackathon): TRL 7 / DRL 6 / IRL 5 – Verified Full-Stack Prototype with 54/54 Automated Tests Passed.</a:t>
            </a:r>
            <a:br/>
            <a:r>
              <a:t>• Phase 2 (Months 1-3): TRL 8 / DRL 7 – Deploy Pilot in Ranchi &amp; Dhanbad Municipal Corporations; Onboard 3 Universities.</a:t>
            </a:r>
            <a:br/>
            <a:r>
              <a:t>• Phase 3 (Months 4-6): TRL 9 / DRL 8 / IRL 6 – State-wide expansion across all 24 districts of Jharkhand with CSR Partnerships.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3796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@SIH Idea submission - CIVIC CONNECT |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6309360"/>
          </a:xfrm>
          <a:prstGeom prst="rect">
            <a:avLst/>
          </a:prstGeom>
          <a:noFill/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411480"/>
            <a:ext cx="5790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u="sng">
                <a:solidFill>
                  <a:srgbClr val="182B49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18872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React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18872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A855F7"/>
                </a:solidFill>
                <a:latin typeface="Arial"/>
              </a:defRPr>
            </a:pPr>
            <a:r>
              <a:t>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18872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9333EA"/>
                </a:solidFill>
                <a:latin typeface="Arial"/>
              </a:defRPr>
            </a:pPr>
            <a:r>
              <a:t>Bootstrap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18872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EAB308"/>
                </a:solidFill>
                <a:latin typeface="Arial"/>
              </a:defRPr>
            </a:pPr>
            <a:r>
              <a:t>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18872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EF4444"/>
                </a:solidFill>
                <a:latin typeface="Arial"/>
              </a:defRPr>
            </a:pPr>
            <a:r>
              <a:t>React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18872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3B82F6"/>
                </a:solidFill>
                <a:latin typeface="Arial"/>
              </a:defRPr>
            </a:pPr>
            <a:r>
              <a:t>Lucide Icons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46888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Java 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46888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16A34A"/>
                </a:solidFill>
                <a:latin typeface="Arial"/>
              </a:defRPr>
            </a:pPr>
            <a:r>
              <a:t>Spring Boot 3.4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246888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22C55E"/>
                </a:solidFill>
                <a:latin typeface="Arial"/>
              </a:defRPr>
            </a:pPr>
            <a:r>
              <a:t>Spring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46888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DB2777"/>
                </a:solidFill>
                <a:latin typeface="Arial"/>
              </a:defRPr>
            </a:pPr>
            <a:r>
              <a:t>JWT (JJWT)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46888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B91C1C"/>
                </a:solidFill>
                <a:latin typeface="Arial"/>
              </a:defRPr>
            </a:pPr>
            <a:r>
              <a:t>Maven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AI / ML Microservice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3749039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1E40AF"/>
                </a:solidFill>
                <a:latin typeface="Arial"/>
              </a:defRPr>
            </a:pPr>
            <a:r>
              <a:t>Python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749039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0D9488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749039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PyTorch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3749039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Transformers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749039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F97316"/>
                </a:solidFill>
                <a:latin typeface="Arial"/>
              </a:defRPr>
            </a:pPr>
            <a:r>
              <a:t>Sentence-Transformers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3749039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DC2626"/>
                </a:solidFill>
                <a:latin typeface="Arial"/>
              </a:defRPr>
            </a:pPr>
            <a:r>
              <a:t>Pillow (ELA)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5680" y="3749039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Scikit-Learn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Database &amp;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502920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16A34A"/>
                </a:solidFill>
                <a:latin typeface="Arial"/>
              </a:defRPr>
            </a:pPr>
            <a:r>
              <a:t>MongoDB 7.0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502920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4F46E5"/>
                </a:solidFill>
                <a:latin typeface="Arial"/>
              </a:defRPr>
            </a:pPr>
            <a:r>
              <a:t>MCP Server (72 Tools)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5029200"/>
            <a:ext cx="1298448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900" b="1">
                <a:solidFill>
                  <a:srgbClr val="0D9488"/>
                </a:solidFill>
                <a:latin typeface="Arial"/>
              </a:defRPr>
            </a:pPr>
            <a:r>
              <a:t>Uvicorn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