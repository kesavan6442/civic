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643055" cy="868680"/>
          </a:xfrm>
          <a:prstGeom prst="roundRect">
            <a:avLst/>
          </a:prstGeom>
          <a:solidFill>
            <a:srgbClr val="0A192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b="1" sz="1700">
                <a:solidFill>
                  <a:srgbClr val="FFFFFF"/>
                </a:solidFill>
              </a:defRPr>
            </a:pPr>
            <a:r>
              <a:t>CIVICCONNECT / JH-INNOVATE</a:t>
            </a:r>
          </a:p>
          <a:p>
            <a:pPr algn="ctr">
              <a:defRPr b="1" sz="1150">
                <a:solidFill>
                  <a:srgbClr val="93C5FD"/>
                </a:solidFill>
              </a:defRPr>
            </a:pPr>
            <a:r>
              <a:t>AI &amp; MCP-Powered Civic Grievance Triage, R&amp;D Matchmaking &amp; Resolution Platform</a:t>
            </a:r>
          </a:p>
          <a:p>
            <a:pPr algn="ctr">
              <a:defRPr sz="850">
                <a:solidFill>
                  <a:srgbClr val="E2E8F0"/>
                </a:solidFill>
              </a:defRPr>
            </a:pPr>
            <a:r>
              <a:t>Multi-Layer AI Forensics • Model Context Protocol (MCP) Decision Tools • Smart Matchmaking • Continuous SLA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43000"/>
            <a:ext cx="3730752" cy="12344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92400E"/>
                </a:solidFill>
              </a:defRPr>
            </a:pPr>
            <a:r>
              <a:t>CIVIC PROBLEM INPUT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Live Citizen Report: Web &amp; Mobile Portal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GPS Geolocation Lock: (±5m precision)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On-Site Live Camera Evidence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Multilingual Inputs (Hindi / English)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Zero Mandatory Login Barrier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216152"/>
            <a:ext cx="292608" cy="29260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1143000"/>
            <a:ext cx="3730752" cy="1234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065F46"/>
                </a:solidFill>
              </a:defRPr>
            </a:pPr>
            <a:r>
              <a:t>PREPROCESSING &amp; VALIDATION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Geofence &amp; Boundary Verification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EXIF &amp; Image Quality Check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Scene Lighting &amp; Blur Filtering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Multilingual Text Normalization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Proximity Radius Clustering (200m)</a:t>
            </a:r>
          </a:p>
        </p:txBody>
      </p:sp>
      <p:sp>
        <p:nvSpPr>
          <p:cNvPr id="7" name="Oval 6"/>
          <p:cNvSpPr/>
          <p:nvPr/>
        </p:nvSpPr>
        <p:spPr>
          <a:xfrm>
            <a:off x="4334256" y="1216152"/>
            <a:ext cx="292608" cy="292608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74736" y="1143000"/>
            <a:ext cx="3730752" cy="12344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9A3412"/>
                </a:solidFill>
              </a:defRPr>
            </a:pPr>
            <a:r>
              <a:t>REAL-TIME AI FORENSICS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ELA Tamper Analysis (Pixel Residuals)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Deepfake &amp; Screen Photo Detection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Noise Variance &amp; Edge Analysis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Compression Ratio Scoring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Authenticity Score (0-100%)</a:t>
            </a:r>
          </a:p>
        </p:txBody>
      </p:sp>
      <p:sp>
        <p:nvSpPr>
          <p:cNvPr id="9" name="Oval 8"/>
          <p:cNvSpPr/>
          <p:nvPr/>
        </p:nvSpPr>
        <p:spPr>
          <a:xfrm>
            <a:off x="8284464" y="1216152"/>
            <a:ext cx="292608" cy="292608"/>
          </a:xfrm>
          <a:prstGeom prst="ellipse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468880"/>
            <a:ext cx="11643055" cy="1143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" y="2542032"/>
            <a:ext cx="292608" cy="29260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515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1050">
                <a:solidFill>
                  <a:srgbClr val="1E40AF"/>
                </a:solidFill>
              </a:defRPr>
            </a:pPr>
            <a:r>
              <a:t>MULTI-LAYER AI &amp; MCP FORENSIC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816352"/>
            <a:ext cx="2194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Semantic Duplicate</a:t>
            </a:r>
          </a:p>
          <a:p>
            <a:pPr>
              <a:spcBef>
                <a:spcPts val="200"/>
              </a:spcBef>
              <a:defRPr sz="720">
                <a:solidFill>
                  <a:srgbClr val="475569"/>
                </a:solidFill>
              </a:defRPr>
            </a:pPr>
            <a:r>
              <a:t>Sentence-Transformers group neighborhood reports into Master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2816352"/>
            <a:ext cx="2194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Domain NLP</a:t>
            </a:r>
          </a:p>
          <a:p>
            <a:pPr>
              <a:spcBef>
                <a:spcPts val="200"/>
              </a:spcBef>
              <a:defRPr sz="720">
                <a:solidFill>
                  <a:srgbClr val="475569"/>
                </a:solidFill>
              </a:defRPr>
            </a:pPr>
            <a:r>
              <a:t>Classifies into 11 civic sectors: Water, Roads, Health, Agri, Sanitation...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2816352"/>
            <a:ext cx="2194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Urgency Scoring</a:t>
            </a:r>
          </a:p>
          <a:p>
            <a:pPr>
              <a:spcBef>
                <a:spcPts val="200"/>
              </a:spcBef>
              <a:defRPr sz="720">
                <a:solidFill>
                  <a:srgbClr val="475569"/>
                </a:solidFill>
              </a:defRPr>
            </a:pPr>
            <a:r>
              <a:t>Auto-prioritizes: Critical (Hazard), High (Disruption), Medium, 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12" y="2816352"/>
            <a:ext cx="2194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MCP Decision Tools</a:t>
            </a:r>
          </a:p>
          <a:p>
            <a:pPr>
              <a:spcBef>
                <a:spcPts val="200"/>
              </a:spcBef>
              <a:defRPr sz="720">
                <a:solidFill>
                  <a:srgbClr val="475569"/>
                </a:solidFill>
              </a:defRPr>
            </a:pPr>
            <a:r>
              <a:t>Model Context Protocol tools for automated triage, SLA audit &amp; dispatch.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816352"/>
            <a:ext cx="21945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defRPr b="1" sz="850">
                <a:solidFill>
                  <a:srgbClr val="1E3A8A"/>
                </a:solidFill>
              </a:defRPr>
            </a:pPr>
            <a:r>
              <a:t>Synergy Check</a:t>
            </a:r>
          </a:p>
          <a:p>
            <a:pPr>
              <a:spcBef>
                <a:spcPts val="200"/>
              </a:spcBef>
              <a:defRPr sz="720">
                <a:solidFill>
                  <a:srgbClr val="475569"/>
                </a:solidFill>
              </a:defRPr>
            </a:pPr>
            <a:r>
              <a:t>Evaluates feasibility &amp; cross-domain alignment between Univ &amp; CSR.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703320"/>
            <a:ext cx="3730752" cy="132588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9D174D"/>
                </a:solidFill>
              </a:defRPr>
            </a:pPr>
            <a:r>
              <a:t>PARTNER MATCHMAKING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Academic Lab Capability Matching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University Department Expertise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District Proximity Ranking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Industry CSR Domain Alignment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Match Compatibility Score Generation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84048" y="3776472"/>
            <a:ext cx="292608" cy="292608"/>
          </a:xfrm>
          <a:prstGeom prst="ellipse">
            <a:avLst/>
          </a:prstGeom>
          <a:solidFill>
            <a:srgbClr val="DB2777"/>
          </a:solidFill>
          <a:ln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703320"/>
            <a:ext cx="3730752" cy="13258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92400E"/>
                </a:solidFill>
              </a:defRPr>
            </a:pPr>
            <a:r>
              <a:t>PROPOSALS &amp; CSR CO-FUNDING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University R&amp;D Engineering Proposals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Milestone Roadmaps &amp; Technical Plan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Industry CSR Co-Funding Pledges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MCP Multi-Proposal Synergy Compare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Admin Gate 1 &amp; 2 Review &amp; Approval</a:t>
            </a:r>
          </a:p>
        </p:txBody>
      </p:sp>
      <p:sp>
        <p:nvSpPr>
          <p:cNvPr id="21" name="Oval 20"/>
          <p:cNvSpPr/>
          <p:nvPr/>
        </p:nvSpPr>
        <p:spPr>
          <a:xfrm>
            <a:off x="4334256" y="3776472"/>
            <a:ext cx="292608" cy="29260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4736" y="3703320"/>
            <a:ext cx="3730752" cy="13258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5B21B6"/>
                </a:solidFill>
              </a:defRPr>
            </a:pPr>
            <a:r>
              <a:t>LIFECYCLE &amp; WORK ORDER ENGINE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Spring Boot 3.4 REST API &amp; Gateway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State Machine (NEW to COMPLETED)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Stateless JWT Security &amp; RBAC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Real-Time Task &amp; Team Allocation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Document &amp; Milestone Ledger</a:t>
            </a:r>
          </a:p>
        </p:txBody>
      </p:sp>
      <p:sp>
        <p:nvSpPr>
          <p:cNvPr id="23" name="Oval 22"/>
          <p:cNvSpPr/>
          <p:nvPr/>
        </p:nvSpPr>
        <p:spPr>
          <a:xfrm>
            <a:off x="8284464" y="3776472"/>
            <a:ext cx="292608" cy="29260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20640"/>
            <a:ext cx="3730752" cy="13258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075985"/>
                </a:solidFill>
              </a:defRPr>
            </a:pPr>
            <a:r>
              <a:t>DYNAMIC SLA DELAY RADAR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Milestone Velocity Real-Time Tracker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Delay Risk Score (0-100)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SLA Breach Probability Forecast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Trajectory Health (Green / Amber / Red)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Explainable Risk Factor Directives</a:t>
            </a:r>
          </a:p>
        </p:txBody>
      </p:sp>
      <p:sp>
        <p:nvSpPr>
          <p:cNvPr id="25" name="Oval 24"/>
          <p:cNvSpPr/>
          <p:nvPr/>
        </p:nvSpPr>
        <p:spPr>
          <a:xfrm>
            <a:off x="384048" y="5193792"/>
            <a:ext cx="292608" cy="292608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5120640"/>
            <a:ext cx="3730752" cy="1325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991B1B"/>
                </a:solidFill>
              </a:defRPr>
            </a:pPr>
            <a:r>
              <a:t>AI &amp; ADMIN DECISION ENGINE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Admin Decision Gateways (1 &amp; 2)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APPROVE (0-30): Low Risk Execution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REVIEW (31-70): Info Request / Refine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ESCALATE (71-100): Delay Warning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CSR Fund Release &amp; Joint Work Orders</a:t>
            </a:r>
          </a:p>
        </p:txBody>
      </p:sp>
      <p:sp>
        <p:nvSpPr>
          <p:cNvPr id="27" name="Oval 26"/>
          <p:cNvSpPr/>
          <p:nvPr/>
        </p:nvSpPr>
        <p:spPr>
          <a:xfrm>
            <a:off x="4334256" y="5193792"/>
            <a:ext cx="292608" cy="292608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5120640"/>
            <a:ext cx="3730752" cy="1325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8912" tIns="73152"/>
          <a:lstStyle/>
          <a:p>
            <a:pPr algn="ctr">
              <a:defRPr b="1" sz="1000">
                <a:solidFill>
                  <a:srgbClr val="065F46"/>
                </a:solidFill>
              </a:defRPr>
            </a:pPr>
            <a:r>
              <a:t>RESOLUTION &amp; FIELD AUDIT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Verified On-Site Field Resolution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Before / After Photo Evidence Audit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Citizen Grievance Redressal Update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Permanent Immutable MongoDB Log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Open Governance SLA Dashboards</a:t>
            </a:r>
          </a:p>
        </p:txBody>
      </p:sp>
      <p:sp>
        <p:nvSpPr>
          <p:cNvPr id="29" name="Oval 28"/>
          <p:cNvSpPr/>
          <p:nvPr/>
        </p:nvSpPr>
        <p:spPr>
          <a:xfrm>
            <a:off x="8284464" y="5193792"/>
            <a:ext cx="292608" cy="292608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